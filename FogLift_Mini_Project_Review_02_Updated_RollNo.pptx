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B96F70-AEE2-41DE-B56D-7921EAF9746E}">
  <a:tblStyle styleId="{1AB96F70-AEE2-41DE-B56D-7921EAF9746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1556" y="420624"/>
            <a:ext cx="1005840" cy="99669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/>
        </p:nvSpPr>
        <p:spPr>
          <a:xfrm>
            <a:off x="914400" y="1691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LLOYD INSTITUTE OF ENGINEERING &amp; TECHNOLOGY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914400" y="2112264"/>
            <a:ext cx="10360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  Department of Computer Science &amp; Engineering &amp; </a:t>
            </a:r>
            <a:r>
              <a:rPr lang="en-US" sz="180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Allied</a:t>
            </a:r>
            <a:r>
              <a:rPr lang="en-US" sz="180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 Branches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914400" y="2715768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B.TECH SECOND YEAR MINI PROJECT  ·  BCC351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280160" y="3200400"/>
            <a:ext cx="9628632" cy="1371600"/>
          </a:xfrm>
          <a:prstGeom prst="roundRect">
            <a:avLst>
              <a:gd fmla="val 6667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FOGLIFT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914400" y="47091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Mini </a:t>
            </a:r>
            <a:r>
              <a:rPr b="0" i="0" lang="en-US" sz="15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Project Presentation – II (Final Evaluation)   |   Session 2026–27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914400" y="5303520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GUIDE NAME</a:t>
            </a:r>
          </a:p>
          <a:p>
            <a:r>
              <a:t>Vishal Sir</a:t>
            </a:r>
          </a:p>
          <a:p>
            <a:r>
              <a:t>Project Guide</a:t>
            </a:r>
          </a:p>
          <a:p>
            <a:r>
              <a:t>Department of Computer Science &amp; Engineering (Data Science)</a:t>
            </a:r>
          </a:p>
        </p:txBody>
      </p:sp>
      <p:sp>
        <p:nvSpPr>
          <p:cNvPr id="26" name="Google Shape;26;p3"/>
          <p:cNvSpPr txBox="1"/>
          <p:nvPr/>
        </p:nvSpPr>
        <p:spPr>
          <a:xfrm>
            <a:off x="6949440" y="5303520"/>
            <a:ext cx="4389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     SUBMITTED BY</a:t>
            </a:r>
          </a:p>
          <a:p>
            <a:r>
              <a:t>Student Name: Alok Sharma    </a:t>
            </a:r>
            <a:br/>
            <a:r>
              <a:t>             Roll No. 2401721540012  </a:t>
            </a:r>
            <a:br/>
            <a:r>
              <a:t>             Class &amp; Sec: B.Tech CSE (Data Science), [Section]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Presentation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34440" y="169164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417320" y="18470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141732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2011680" y="16916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Project Recap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234440" y="256032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417320" y="271576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1417320" y="27157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2011680" y="25603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Project Progress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234440" y="342900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417320" y="358444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1417320" y="35844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2011680" y="34290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234440" y="429768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417320" y="445312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1417320" y="4453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2011680" y="42976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Implementation Details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234440" y="516636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417320" y="532180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1417320" y="53218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2011680" y="516636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Working Demonstration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263640" y="169164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446520" y="18470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 txBox="1"/>
          <p:nvPr/>
        </p:nvSpPr>
        <p:spPr>
          <a:xfrm>
            <a:off x="644652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040880" y="16916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Technical Understanding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263640" y="256032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446520" y="271576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6446520" y="27157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7040880" y="25603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Results &amp;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263640" y="342900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6446520" y="358444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6446520" y="35844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7040880" y="34290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263640" y="429768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446520" y="445312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6446520" y="4453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7040880" y="42976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Project Recap (from Review-01)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234440" y="1600200"/>
            <a:ext cx="484632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1508760" y="18288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508760" y="2331720"/>
            <a:ext cx="42976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309360" y="1600200"/>
            <a:ext cx="475488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6583680" y="18288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6583680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7223760" y="242316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6583680" y="32735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223760" y="3319272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6583680" y="41696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7223760" y="4215384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6583680" y="50657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7223760" y="5111496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85800" y="2331720"/>
            <a:ext cx="5074920" cy="2423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Classroom confusion often remains invisible because students may hesitate to ask questions.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FogLift gives students an anonymous, one-tap way to signal that they are lost, while the teacher sees the class-level confusion in real time.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080760" y="2148840"/>
            <a:ext cx="5212080" cy="2926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01  Enable anonymous “I’m lost” feedback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02  Let students mark “Got it” when they understand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03  Show a live confusion graph and configurable alerts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04  Identify difficult topics in an end-of-class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10424160" y="-1463040"/>
            <a:ext cx="3108900" cy="3108900"/>
          </a:xfrm>
          <a:prstGeom prst="ellipse">
            <a:avLst/>
          </a:prstGeom>
          <a:solidFill>
            <a:srgbClr val="1C7293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-1097280" y="5669280"/>
            <a:ext cx="2194500" cy="2194500"/>
          </a:xfrm>
          <a:prstGeom prst="ellipse">
            <a:avLst/>
          </a:prstGeom>
          <a:solidFill>
            <a:srgbClr val="21295C">
              <a:alpha val="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02920" y="457200"/>
            <a:ext cx="530400" cy="530400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502920" y="457200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1234440" y="429768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PROJECT PROGRESS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1234440" y="676656"/>
            <a:ext cx="9692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Planned vs Completed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11228832" y="649224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234477" y="1600200"/>
            <a:ext cx="9994500" cy="44805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1590474" y="2194550"/>
            <a:ext cx="2387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90%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1234440" y="31546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OVERALL COMPLETION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1463064" y="3840475"/>
            <a:ext cx="5453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Implemented student and teacher views, session codes, live updates, confusion alerts, topic markers, session reports, CSV export and print-to-PDF.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232D3C"/>
                </a:solidFill>
                <a:latin typeface="Aptos"/>
              </a:rPr>
              <a:t>Completed: core session flow • anonymous student signals • real-time dashboard • topic markers • report generation • basic API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System Architecture / Workflow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234440" y="1600200"/>
            <a:ext cx="9848088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1234440" y="3200400"/>
            <a:ext cx="9848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Rounded Rectangle 133"/>
          <p:cNvSpPr/>
          <p:nvPr/>
        </p:nvSpPr>
        <p:spPr>
          <a:xfrm>
            <a:off x="594360" y="2057400"/>
            <a:ext cx="2057400" cy="914400"/>
          </a:xfrm>
          <a:prstGeom prst="roundRect">
            <a:avLst/>
          </a:prstGeom>
          <a:solidFill>
            <a:srgbClr val="E7F0F8"/>
          </a:solidFill>
          <a:ln>
            <a:solidFill>
              <a:srgbClr val="43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3F5B"/>
                </a:solidFill>
                <a:latin typeface="Aptos"/>
              </a:rPr>
              <a:t>STUDENT PHONE</a:t>
            </a:r>
            <a:br/>
            <a:r>
              <a:rPr sz="1300" b="1">
                <a:solidFill>
                  <a:srgbClr val="203F5B"/>
                </a:solidFill>
                <a:latin typeface="Aptos"/>
              </a:rPr>
              <a:t>“I’m lost” / “Got it”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154680" y="2057400"/>
            <a:ext cx="2057400" cy="914400"/>
          </a:xfrm>
          <a:prstGeom prst="roundRect">
            <a:avLst/>
          </a:prstGeom>
          <a:solidFill>
            <a:srgbClr val="E7F0F8"/>
          </a:solidFill>
          <a:ln>
            <a:solidFill>
              <a:srgbClr val="43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3F5B"/>
                </a:solidFill>
                <a:latin typeface="Aptos"/>
              </a:rPr>
              <a:t>HTTP API</a:t>
            </a:r>
            <a:br/>
            <a:r>
              <a:rPr sz="1300" b="1">
                <a:solidFill>
                  <a:srgbClr val="203F5B"/>
                </a:solidFill>
                <a:latin typeface="Aptos"/>
              </a:rPr>
              <a:t>POST /tap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715000" y="2057400"/>
            <a:ext cx="2057400" cy="914400"/>
          </a:xfrm>
          <a:prstGeom prst="roundRect">
            <a:avLst/>
          </a:prstGeom>
          <a:solidFill>
            <a:srgbClr val="E7F0F8"/>
          </a:solidFill>
          <a:ln>
            <a:solidFill>
              <a:srgbClr val="43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3F5B"/>
                </a:solidFill>
                <a:latin typeface="Aptos"/>
              </a:rPr>
              <a:t>NODE.JS SERVER</a:t>
            </a:r>
            <a:br/>
            <a:r>
              <a:rPr sz="1300" b="1">
                <a:solidFill>
                  <a:srgbClr val="203F5B"/>
                </a:solidFill>
                <a:latin typeface="Aptos"/>
              </a:rPr>
              <a:t>In-memory sessions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275320" y="2057400"/>
            <a:ext cx="2651760" cy="914400"/>
          </a:xfrm>
          <a:prstGeom prst="roundRect">
            <a:avLst/>
          </a:prstGeom>
          <a:solidFill>
            <a:srgbClr val="E7F0F8"/>
          </a:solidFill>
          <a:ln>
            <a:solidFill>
              <a:srgbClr val="43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3F5B"/>
                </a:solidFill>
                <a:latin typeface="Aptos"/>
              </a:rPr>
              <a:t>LIVE TEACHER DASHBOARD</a:t>
            </a:r>
            <a:br/>
            <a:r>
              <a:rPr sz="1300" b="1">
                <a:solidFill>
                  <a:srgbClr val="203F5B"/>
                </a:solidFill>
                <a:latin typeface="Aptos"/>
              </a:rPr>
              <a:t>SSE updates + graph</a:t>
            </a:r>
          </a:p>
        </p:txBody>
      </p:sp>
      <p:sp>
        <p:nvSpPr>
          <p:cNvPr id="138" name="Right Arrow 137"/>
          <p:cNvSpPr/>
          <p:nvPr/>
        </p:nvSpPr>
        <p:spPr>
          <a:xfrm>
            <a:off x="2679192" y="2331720"/>
            <a:ext cx="384048" cy="310896"/>
          </a:xfrm>
          <a:prstGeom prst="rightArrow">
            <a:avLst/>
          </a:prstGeom>
          <a:solidFill>
            <a:srgbClr val="437199"/>
          </a:solidFill>
          <a:ln>
            <a:solidFill>
              <a:srgbClr val="43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ight Arrow 138"/>
          <p:cNvSpPr/>
          <p:nvPr/>
        </p:nvSpPr>
        <p:spPr>
          <a:xfrm>
            <a:off x="5239512" y="2331720"/>
            <a:ext cx="384048" cy="310896"/>
          </a:xfrm>
          <a:prstGeom prst="rightArrow">
            <a:avLst/>
          </a:prstGeom>
          <a:solidFill>
            <a:srgbClr val="437199"/>
          </a:solidFill>
          <a:ln>
            <a:solidFill>
              <a:srgbClr val="43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ight Arrow 139"/>
          <p:cNvSpPr/>
          <p:nvPr/>
        </p:nvSpPr>
        <p:spPr>
          <a:xfrm>
            <a:off x="7799831" y="2331720"/>
            <a:ext cx="384048" cy="310896"/>
          </a:xfrm>
          <a:prstGeom prst="rightArrow">
            <a:avLst/>
          </a:prstGeom>
          <a:solidFill>
            <a:srgbClr val="437199"/>
          </a:solidFill>
          <a:ln>
            <a:solidFill>
              <a:srgbClr val="43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14400" y="3657600"/>
            <a:ext cx="1005840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Teacher actions: create session • set alert threshold • add topic markers • end class and view report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Data flow: session state is pushed to connected browsers using Server-Sent Events (SSE). Data remains in server memory and is cleared when the server stops.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Implementation Details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234471" y="1600200"/>
            <a:ext cx="9811200" cy="448050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1463075" y="1846475"/>
            <a:ext cx="9334500" cy="4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731520" y="1508760"/>
            <a:ext cx="5303520" cy="3566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BACKEND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Node.js built-in HTTP server; no npm dependencies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REST-style JSON endpoints for sessions, taps, markers and reports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In-memory session, tap, history and marker data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Teacher token check for protected controls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REAL-TIME LOGIC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Server-Sent Events (SSE) stream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Confusion state sampled every 5 seconds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172200" y="1508760"/>
            <a:ext cx="5212080" cy="3566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FRONTEND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HTML, CSS and JavaScript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Separate landing, student and teacher pages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Responsive student controls and teacher dashboard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Live graph, alert threshold slider and topic markers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REPORTING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Topic-wise confusion summary and spike detection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CSV download and print/save as 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WORKING DEMONSTRATION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Working Demonstration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234440" y="1600200"/>
            <a:ext cx="3154680" cy="38404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123444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Student taps “I’m lost”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123444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4389120" y="301752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572000" y="1600200"/>
            <a:ext cx="3154680" cy="38404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457200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Server updates session state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57200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7726680" y="301752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7909560" y="1600200"/>
            <a:ext cx="3154680" cy="38404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790956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Teacher sees live graph and report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790956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685800" y="3794760"/>
            <a:ext cx="324612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32D3C"/>
                </a:solidFill>
                <a:latin typeface="Aptos"/>
              </a:rPr>
              <a:t>INPUT</a:t>
            </a:r>
          </a:p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32D3C"/>
                </a:solidFill>
                <a:latin typeface="Aptos"/>
              </a:rPr>
              <a:t>Anonymous student signal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434840" y="3794760"/>
            <a:ext cx="324612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32D3C"/>
                </a:solidFill>
                <a:latin typeface="Aptos"/>
              </a:rPr>
              <a:t>PROCESSING</a:t>
            </a:r>
          </a:p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32D3C"/>
                </a:solidFill>
                <a:latin typeface="Aptos"/>
              </a:rPr>
              <a:t>API + live session calculation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183879" y="3794760"/>
            <a:ext cx="324612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32D3C"/>
                </a:solidFill>
                <a:latin typeface="Aptos"/>
              </a:rPr>
              <a:t>OUTPUT</a:t>
            </a:r>
          </a:p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32D3C"/>
                </a:solidFill>
                <a:latin typeface="Aptos"/>
              </a:rPr>
              <a:t>Confusion percentage +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TECHNICAL UNDERSTANDING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Technology Stack &amp; Core Concepts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234460" y="1600200"/>
            <a:ext cx="9829800" cy="25266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1463050" y="1884376"/>
            <a:ext cx="93270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1234440" y="4480560"/>
            <a:ext cx="982980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1463040" y="4617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Core Concept / Algorithm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1463040" y="5029200"/>
            <a:ext cx="9326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A device is counted as “lost” when its latest “I’m lost” tap is within the last 60 seconds. Confusion % = lost students ÷ estimated class count × 100. An alert requires the configured threshold (default 30%) and at least 2 lost students.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731520" y="1508760"/>
            <a:ext cx="5303520" cy="2057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TECHNOLOGY STACK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Runtime: Node.js (built-in HTTP, crypto, fs, os)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Frontend: HTML, CSS, JavaScript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Live updates: Server-Sent Events (SSE)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Storage: in-memory Maps and arrays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Optional QR generation uses a browser-loaded library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Results &amp; Testing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11"/>
          <p:cNvGraphicFramePr/>
          <p:nvPr/>
        </p:nvGraphicFramePr>
        <p:xfrm>
          <a:off x="12344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{1AB96F70-AEE2-41DE-B56D-7921EAF9746E}</a:tableStyleId>
              </a:tblPr>
              <a:tblGrid>
                <a:gridCol w="1097275"/>
                <a:gridCol w="2662475"/>
                <a:gridCol w="3042775"/>
                <a:gridCol w="2806475"/>
              </a:tblGrid>
              <a:tr h="548650">
                <a:tc>
                  <a:txBody>
                    <a:bodyPr/>
                    <a:lstStyle/>
                    <a:p>
                      <a:r>
                        <a:rPr sz="1000"/>
                        <a:t>Test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Input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Expected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Actual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rPr sz="1000"/>
                        <a:t>T1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Create class session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Code + token returned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Verified in scripted test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rPr sz="1000"/>
                        <a:t>T2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Repeat same tap &lt;20 s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Cooldown enforced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HTTP 429 checked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rPr sz="1000"/>
                        <a:t>T3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Wrong teacher token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Protected action denied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Rejection checked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rPr sz="1000"/>
                        <a:t>T4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Tap “Got it”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Lost count decreases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Logic checked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rPr sz="1000"/>
                        <a:t>T5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End class / request report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Class closes; report built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HTTP 410 after end; report checked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11"/>
          <p:cNvSpPr txBox="1"/>
          <p:nvPr/>
        </p:nvSpPr>
        <p:spPr>
          <a:xfrm>
            <a:off x="1234440" y="5349240"/>
            <a:ext cx="982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Scripted checks covered session creation, cooldown, teacher-token protection, topic markers, class ending and report generation.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Conclusion, Challenges &amp; Future Scope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1234440" y="1600200"/>
            <a:ext cx="3154680" cy="448056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46304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 txBox="1"/>
          <p:nvPr/>
        </p:nvSpPr>
        <p:spPr>
          <a:xfrm>
            <a:off x="146304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205740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146304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572000" y="1600200"/>
            <a:ext cx="3154680" cy="448056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480060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48006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539496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Challenges &amp; Solutions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480060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7909560" y="1600200"/>
            <a:ext cx="3154680" cy="448056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813816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 txBox="1"/>
          <p:nvPr/>
        </p:nvSpPr>
        <p:spPr>
          <a:xfrm>
            <a:off x="813816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873252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Future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813816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777240" y="1965960"/>
            <a:ext cx="338328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CONCLUSION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FogLift makes classroom confusion visible without identifying individual students. It helps teachers decide when to pause, recap or explain a topic again.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389120" y="1965960"/>
            <a:ext cx="338328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CHALLENGES &amp; SOLUTIONS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• Anonymous counting without student names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• Preventing repeated taps with a 20-second cooldown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• Avoiding false alerts: minimum 2 students plus threshold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• SSE keeps live updates simple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8001000" y="1965960"/>
            <a:ext cx="338328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FUTURE SCOPE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• Save class history using SQLite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• Add a teacher-controlled class lock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• Add per-IP rate limiting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• Add a slide-wise confusion heatmap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234440" y="1600200"/>
            <a:ext cx="9848088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1554480" y="18745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[1] Node.js Documentation, “HTTP,” “Crypto,” and “Server-Sent Events implementation concepts,” https://nodejs.org/docs/ (accessed Oct. 2026).
[2] FogLift project source code and README, submitted project files, 2026.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1554480" y="5394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NOTE: All references must be cited in IEEE format.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 txBox="1"/>
          <p:nvPr/>
        </p:nvSpPr>
        <p:spPr>
          <a:xfrm>
            <a:off x="914400" y="2468880"/>
            <a:ext cx="10360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914400" y="338328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Questions &amp; suggestions are welcome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914400" y="475488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Technology, Greater Noida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